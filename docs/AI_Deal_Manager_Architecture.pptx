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04688"/>
            <a:ext cx="12188952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9144" cy="6858000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1E2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11480"/>
            <a:ext cx="1280160" cy="1280160"/>
          </a:xfrm>
          <a:prstGeom prst="rect">
            <a:avLst/>
          </a:prstGeom>
          <a:solidFill>
            <a:srgbClr val="1E2946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1887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</a:rPr>
              <a:t>AI
DEAL
MGR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 Deal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6366F1"/>
                </a:solidFill>
              </a:rPr>
              <a:t>Enterprise Autonomous Agentic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Technical Architecture  |  v1.0  |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60520"/>
            <a:ext cx="1266444" cy="292608"/>
          </a:xfrm>
          <a:prstGeom prst="rect">
            <a:avLst/>
          </a:prstGeom>
          <a:solidFill>
            <a:srgbClr val="1E2946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87952"/>
            <a:ext cx="10835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LangGraph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88236" y="4160520"/>
            <a:ext cx="1476756" cy="292608"/>
          </a:xfrm>
          <a:prstGeom prst="rect">
            <a:avLst/>
          </a:prstGeom>
          <a:solidFill>
            <a:srgbClr val="1E2946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79676" y="4187952"/>
            <a:ext cx="12938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Django 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9584" y="4160520"/>
            <a:ext cx="1371600" cy="292608"/>
          </a:xfrm>
          <a:prstGeom prst="rect">
            <a:avLst/>
          </a:prstGeom>
          <a:solidFill>
            <a:srgbClr val="1E2946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418795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Next.js 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4160520"/>
            <a:ext cx="2528316" cy="292608"/>
          </a:xfrm>
          <a:prstGeom prst="rect">
            <a:avLst/>
          </a:prstGeom>
          <a:solidFill>
            <a:srgbClr val="1E2946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4187952"/>
            <a:ext cx="23454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PostgreSQL + pgvector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8683" y="4160520"/>
            <a:ext cx="2002536" cy="292608"/>
          </a:xfrm>
          <a:prstGeom prst="rect">
            <a:avLst/>
          </a:prstGeom>
          <a:solidFill>
            <a:srgbClr val="1E2946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0123" y="4187952"/>
            <a:ext cx="1819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MCP Tool Servers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5812" y="4160520"/>
            <a:ext cx="2002536" cy="292608"/>
          </a:xfrm>
          <a:prstGeom prst="rect">
            <a:avLst/>
          </a:prstGeom>
          <a:solidFill>
            <a:srgbClr val="1E2946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7252" y="4187952"/>
            <a:ext cx="1819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Anthropic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Confidential  |  Internal Technical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Platform capabilities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48872" cy="10241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384048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134416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12471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Autonomous AI Agent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399031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21 specialised AI agents grouped across 7 domains — orchestration, CRM, compliance, finance, document intelligence, analytics, and customer success — operating via LangGraph multi-agent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30552"/>
            <a:ext cx="11548872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30552"/>
            <a:ext cx="384048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242316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2037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Enterprise-Grade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478024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18 Django REST Framework applications providing modular microservice-style APIs, PostgreSQL 16 with pgvector for semantic search, Redis for caching/queuing, and MinIO for document storage (S3-compatible).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09544"/>
            <a:ext cx="11548872" cy="10241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209544"/>
            <a:ext cx="384048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350215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28269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Model Context Protocol (MCP)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557016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12 purpose-built MCP Tool Servers expose CRM, analytics, compliance, document, email, calendar, and forecasting capabilities as structured tools consumed by AI agents at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88536"/>
            <a:ext cx="11548872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288536"/>
            <a:ext cx="384048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458114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3616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Modern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636008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Next.js 15 (App Router) with TypeScript, Tailwind CSS, Shadcn/UI, and TanStack Query delivers a responsive, role-aware dashboard with real-time WebSocket updates and AG Grid-powered data tables.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67528"/>
            <a:ext cx="11548872" cy="10241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367528"/>
            <a:ext cx="384048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566013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4406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Security &amp;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715000"/>
            <a:ext cx="10881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Role-Based Access Control across 9 hierarchical roles (Viewer through Super Admin), JWT + HttpOnly cookie authentication, full audit logging, SOC-2-aligned data handling, and encrypted PII fields.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Five-layer architecture — users to data persistence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11548872" cy="950976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2286000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07008"/>
            <a:ext cx="9006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Next.js 15 App Router  |  TypeScript  |  Tailwind CSS  |  Shadcn/UI  |  AG Grid  |  TanStack Query  |  WebSocket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1975104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93976"/>
            <a:ext cx="11548872" cy="950976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93976"/>
            <a:ext cx="2286000" cy="9509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368296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76856"/>
            <a:ext cx="9006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Django REST Framework  |  JWT Auth  |  Rate Limiting  |  CORS  |  Nginx reverse proxy  |  HTTPS/TLS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3044952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63824"/>
            <a:ext cx="11548872" cy="950976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63824"/>
            <a:ext cx="2286000" cy="950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438144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346704"/>
            <a:ext cx="9006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18 Django Apps  |  Celery task queue  |  Redis cache  |  WebSocket (Django Channels)  |  Signal handlers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4114800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33672"/>
            <a:ext cx="11548872" cy="950976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233672"/>
            <a:ext cx="2286000" cy="950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07992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416552"/>
            <a:ext cx="9006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LangGraph (multi-agent graphs)  |  LangChain  |  Anthropic Claude (claude-3-5-sonnet)  |  12 MCP Tool Servers  |  21 Specialised Agents  |  Vector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518464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03520"/>
            <a:ext cx="11548872" cy="950976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303520"/>
            <a:ext cx="2286000" cy="950976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577840"/>
            <a:ext cx="2103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 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486400"/>
            <a:ext cx="900684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PostgreSQL 16 + pgvector  |  Redis 7  |  MinIO (object store)  |  Full-text search  |  Semantic embeddings  |  Celery Beat 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327648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All layers communicate via internal Django URL routing or explicit service calls. WebSocket updates flow bi-directionally through Django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Versions and roles for every major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084831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042416"/>
            <a:ext cx="1975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005840"/>
            <a:ext cx="24505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1042416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005840"/>
            <a:ext cx="181051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3" y="104241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005840"/>
            <a:ext cx="22219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3" y="1042416"/>
            <a:ext cx="2112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353312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1389888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Backend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353312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1389888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Django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1353312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1389888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5.x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353312"/>
            <a:ext cx="22219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389888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Web framework, ORM, 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700784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REST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1700784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173736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Django REST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1700784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173736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3.15+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700784"/>
            <a:ext cx="2221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1737360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Serialization, viewsets, auth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048256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08483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AI Orchestration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2048256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6312" y="208483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LangGraph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048256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2084832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0.2+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2048256"/>
            <a:ext cx="22219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992" y="2084832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Multi-agent state machines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395728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2432304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AI Chains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2395728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6312" y="2432304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LangChain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2395728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65192" y="2432304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0.3+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0840" y="2395728"/>
            <a:ext cx="2221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93992" y="2432304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Tool wrappers, prompt templates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743200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2779776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LLM Provider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743200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96312" y="277977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Anthropic Claude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2743200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65192" y="2779776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claude-3-5-sonnet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2743200"/>
            <a:ext cx="22219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93992" y="2779776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Primary inference model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090672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3127248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Embeddings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3090672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96312" y="3127248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OpenAI / local model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3090672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65192" y="3127248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text-embedding-3-small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0840" y="3090672"/>
            <a:ext cx="2221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93992" y="3127248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Vector embeddings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3438144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" y="3474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Frontend Framework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23160" y="3438144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96312" y="347472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Next.js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92040" y="3438144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65192" y="347472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15 (App Router)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20840" y="3438144"/>
            <a:ext cx="22219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93992" y="3474720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SSR/SSG React app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785616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3192" y="38221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UI Language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3160" y="3785616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96312" y="382219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TypeScript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92040" y="3785616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65192" y="3822192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5.x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20840" y="3785616"/>
            <a:ext cx="2221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93992" y="3822192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Type-safe frontend code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133087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" y="4169663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Styling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4133087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96312" y="4169663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Tailwind CSS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92040" y="4133087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65192" y="4169663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3.x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20840" y="4133087"/>
            <a:ext cx="22219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93992" y="4169663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Utility-first CSS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4480560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" y="4517136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UI Components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23160" y="4480560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496312" y="451713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Shadcn/UI + Radix UI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2040" y="4480560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65192" y="4517136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latest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20840" y="4480560"/>
            <a:ext cx="22219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793992" y="4517136"/>
            <a:ext cx="2093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Accessible component library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0" y="1005840"/>
            <a:ext cx="2084831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98864" y="1042416"/>
            <a:ext cx="19751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1247120" y="1005840"/>
            <a:ext cx="24505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301984" y="1042416"/>
            <a:ext cx="23408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0" y="1005840"/>
            <a:ext cx="181051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770864" y="104241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544800" y="1005840"/>
            <a:ext cx="2066543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599663" y="1042416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44000" y="1353312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17152" y="1389888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Data Grid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247120" y="1353312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320272" y="1389888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AG Grid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716000" y="1353312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3789152" y="1389888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31+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5544800" y="1353312"/>
            <a:ext cx="2066543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5617951" y="1389888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Complex data tables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144000" y="1700784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217152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Primary Database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247120" y="1700784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320272" y="173736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PostgreSQL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716000" y="1700784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3789152" y="173736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16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544800" y="1700784"/>
            <a:ext cx="206654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617951" y="1737360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Relational data store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0" y="2048256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217152" y="208483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Vector Store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247120" y="2048256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320272" y="208483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pgvector extension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00" y="2048256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789152" y="2084832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0.7+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5544800" y="2048256"/>
            <a:ext cx="2066543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5617951" y="2084832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Semantic similarity search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44000" y="2395728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217152" y="2432304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Cache / Queue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1247120" y="2395728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320272" y="2432304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Redis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716000" y="2395728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789152" y="2432304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5544800" y="2395728"/>
            <a:ext cx="206654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5617951" y="2432304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Caching, Celery broker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44000" y="2743200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217152" y="2779776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Object Storage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247120" y="2743200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320272" y="277977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MinIO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3716000" y="2743200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3789152" y="2779776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latest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5544800" y="2743200"/>
            <a:ext cx="2066543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5617951" y="2779776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S3-compatible file store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0" y="3090672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217152" y="3127248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Task Queue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247120" y="3090672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320272" y="3127248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Celery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3716000" y="3090672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3789152" y="3127248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5.x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5544800" y="3090672"/>
            <a:ext cx="206654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5617951" y="3127248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Async jobs, scheduled tasks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144000" y="3438144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217152" y="347472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Reverse Proxy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247120" y="3438144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320272" y="3474720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Nginx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3716000" y="3438144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3789152" y="3474720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1.25+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5544800" y="3438144"/>
            <a:ext cx="2066543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5617951" y="3474720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SSL termination, load balance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144000" y="3785616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217152" y="382219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Containerisation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1247120" y="3785616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320272" y="3822192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Docker Compose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3716000" y="3785616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789152" y="3822192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v2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5544800" y="3785616"/>
            <a:ext cx="206654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5617951" y="3822192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Local &amp; prod orchestration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144000" y="4133087"/>
            <a:ext cx="2084831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217152" y="4169663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Real-time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247120" y="4133087"/>
            <a:ext cx="245059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320272" y="4169663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Django Channels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3716000" y="4133087"/>
            <a:ext cx="1810512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3789152" y="4169663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4.x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5544800" y="4133087"/>
            <a:ext cx="2066543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5617951" y="4169663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WebSocket support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144000" y="4480560"/>
            <a:ext cx="2084831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217152" y="4517136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Auth Tokens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1247120" y="4480560"/>
            <a:ext cx="245059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320272" y="4517136"/>
            <a:ext cx="2322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djangorestframework-simplejwt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3716000" y="4480560"/>
            <a:ext cx="181051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3789152" y="4517136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5.x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5544800" y="4480560"/>
            <a:ext cx="2066543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5617951" y="4517136"/>
            <a:ext cx="193852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JWT access / refresh tokens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20040" y="6537960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* Versions listed are minimum stable versions as of Q1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Backend Services — 18 Django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Modular Django apps — each owns a distinct business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051560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26187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User auth, roles, JWT, profile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9663" y="1024128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9663" y="1024128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051560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contacts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26187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CRM contacts: companies, people, relationships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9288" y="1024128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9288" y="1024128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1051560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deals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126187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Deal pipeline, stages, probability, value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536192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1536192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1563624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1773936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Task management, reminders, assignment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536192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9663" y="1536192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1563624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activities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1773936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Activity feed, calls, meetings, notes, emails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9288" y="1536192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9288" y="1536192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7304" y="1563624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documents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1773936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File upload, versioning, MinIO storage, parsing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048256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" y="2075688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22860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Dashboard metrics, KPIs, charts, report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9663" y="2048256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9663" y="2048256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2075688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ai_agents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2860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Agent configs, execution runs, result storage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9288" y="2048256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9288" y="2048256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47304" y="2075688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mcp_tools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47304" y="2286000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MCP server registry, tool definitions, execution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560320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2560320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" y="2587752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" y="2798064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In-app, email, webhook push notifications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9663" y="2560320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69663" y="2560320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79" y="2587752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compliance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79" y="2798064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Regulatory rules, risk scoring, GDPR controls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19288" y="2560320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19288" y="2560320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47304" y="2587752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forecasting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47304" y="2798064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Revenue forecasts, ML models, scenario planning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072384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3072384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" y="3099816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integrations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" y="331012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Slack, Gmail, Outlook, LinkedIn connectors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9663" y="3072384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69663" y="3072384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79" y="3099816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products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79" y="331012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Product catalogue, pricing, quoting engine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19288" y="3072384"/>
            <a:ext cx="3776472" cy="475488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19288" y="3072384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47304" y="3099816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billing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47304" y="331012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Invoices, subscriptions, payment tracking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3584448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3584448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8056" y="3611880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reports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056" y="382219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Scheduled reports, export (PDF/Excel/CSV)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69663" y="3584448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69663" y="3584448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97679" y="3611880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webhooks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79" y="382219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Inbound/outbound webhook event processing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19288" y="3584448"/>
            <a:ext cx="3776472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19288" y="3584448"/>
            <a:ext cx="64008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47304" y="3611880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audit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47304" y="3822192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Immutable audit log, SIEM export, retention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6364224"/>
            <a:ext cx="115488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Each app exposes ViewSets, Serializers, Signals, Celery tasks, and unit tests. Apps communicate through Django ORM relations and internal service functions — no inter-service HTTP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Agent Ecosystem — 21 Specialised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LangGraph-powered agents grouped by business 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27432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607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4081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Deal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5910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master workflow 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105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Research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933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multi-source research planner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02412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024128"/>
            <a:ext cx="274320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0607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CRM &amp;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14081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Lead Qualifier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15910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BANT/MEDDIC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18105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Relationship Mapper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19933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stakeholder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22128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Competitive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23957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market positioning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261518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Proposal 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7980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personalised proposals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102412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1024128"/>
            <a:ext cx="27432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10607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14081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Regulatory Checker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15910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rule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18105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Risk Assessor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19933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deal risk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22128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Due Diligence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3957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KYC/KYB checks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61518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Contract Reviewer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27980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clause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3144" y="102412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53144" y="1024128"/>
            <a:ext cx="27432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10607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14081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Deal 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15910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DCF &amp; comparables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18105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Financial Analyst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44584" y="19933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P&amp;L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22128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Pricing Optimizer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3957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margin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63016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3630168"/>
            <a:ext cx="274320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666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DOCUMENT INTEL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79" y="401421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Document Parser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79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PDF/DOCX extraction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79" y="4416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Data Extractor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79" y="45994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structured field pull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79" y="48188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Summarizer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79" y="50017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executive summaries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64408" y="363016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64408" y="3630168"/>
            <a:ext cx="2743200" cy="320040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55848" y="3666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401421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Pipeline Analyst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5848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funnel metrics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55848" y="4416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Forecast Builder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55848" y="45994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ML revenue 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5848" y="48188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Insight Generator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55848" y="50017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anomaly detection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08776" y="3630168"/>
            <a:ext cx="2743200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08776" y="3630168"/>
            <a:ext cx="27432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0216" y="36667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CUSTOMER SUCCESS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401421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Churn Predictor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4197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health scoring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216" y="4416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- Upsell Identifier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45994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  expansion signals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" y="6510528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</a:rPr>
              <a:t>Total: 21 agents  |  Runtime: LangGraph StateGraph  |  Model: claude-3-5-sonnet-20241022  |  Tool protocol: MCP (Model Context Protocol)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MCP Tool Servers — 12 Domain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Model Context Protocol servers expose structured capabilities to AI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05840"/>
            <a:ext cx="274320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241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CRM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167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search_contacts  get_contact_details
update_contact  create_activity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0058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005840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0241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Deal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13167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get_deal_info  update_deal_stage
add_deal_note  list_pipeline_deals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0058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005840"/>
            <a:ext cx="27432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0241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Analytics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3167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get_pipeline_metrics  revenue_forecast
conversion_rates  team_performance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0058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1005840"/>
            <a:ext cx="274320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0241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Document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13167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upload_document  parse_document
extract_fields  search_documents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774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377440"/>
            <a:ext cx="274320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2395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Compliance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26883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check_regulatory  assess_risk
flag_issues  generate_report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23774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64408" y="2377440"/>
            <a:ext cx="2743200" cy="274320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2395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Email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6883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send_email  read_inbox
search_emails  create_draft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23774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2377440"/>
            <a:ext cx="274320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2395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Calendar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26883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schedule_meeting  get_availability
list_events  create_reminder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3144" y="2377440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53144" y="2377440"/>
            <a:ext cx="2743200" cy="274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44584" y="2395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Research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2688336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web_search  company_lookup
news_search  linkedin_profile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749039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749039"/>
            <a:ext cx="2743200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376732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Financial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4059935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valuation_calc  dcf_model
financial_ratios  price_compare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64408" y="3749039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64408" y="3749039"/>
            <a:ext cx="2743200" cy="274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55848" y="376732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Notification Tools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55848" y="4059935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send_notification  create_alert
webhook_trigger  slack_message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8776" y="3749039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08776" y="3749039"/>
            <a:ext cx="2743200" cy="2743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216" y="376732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 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6" y="4059935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get_product_catalog  configure_quote
check_pricing  apply_discount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53144" y="3749039"/>
            <a:ext cx="2743200" cy="1234439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53144" y="3749039"/>
            <a:ext cx="2743200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44584" y="3767327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44584" y="4059935"/>
            <a:ext cx="256032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log_action  get_audit_trail
export_audit  flag_anomaly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6492240"/>
            <a:ext cx="1154887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Protocol: JSON-RPC 2.0 over stdio / SSE  |  Each server registers tools with name, description, and JSON Schema input spec  |  Agents bind tools dynamically at graph initialisation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Database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Multi-store persistence: relational, vector, cache, and object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5440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544068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60704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PostgreSQL 16 + 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4475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Primary relational store — 40+ normalised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1907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pgvector extension for 1536-dim embedding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Full-text search via tsvector + GIN 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6771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Row-level security for multi-tenancy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54203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JSON/JSONB columns for flexible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816351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UUID primary keys throughout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090671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Automated migrations via Django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024128"/>
            <a:ext cx="5440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024128"/>
            <a:ext cx="544068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060704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Redis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44475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Django cache backend (per-view &amp; per-object TTL)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71907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Celery task broker and result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99339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Django Channels layer for WebSocket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26771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Session store for stateless JWT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542032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Rate-limiting counters and sliding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2816351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Pub/Sub for real-time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090671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Sorted sets for leaderboard / analytics cache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66160"/>
            <a:ext cx="5440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566160"/>
            <a:ext cx="5440680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602736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MinIO (S3-compatible)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398678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Document and attachment binary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426110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Presigned URL generation for secure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453542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Bucket lifecycle policies for archival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480974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Server-side encryption (SSE-S3)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08406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Versioning enabled on document buckets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5358383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Direct upload from frontend via presigned 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5632703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Integrated with document parsing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566160"/>
            <a:ext cx="5440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3566160"/>
            <a:ext cx="54406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3602736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Vector Store (pgvector)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398678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Semantic similarity search across documents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426110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Contact and deal embedding retrieval (k-NN)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453542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IVFFlat and HNSW index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480974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Cosine and L2 distance operators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5084064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Embeddings generated via OpenAI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5358383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RAG (Retrieval-Augmented Generation)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5632703"/>
            <a:ext cx="5221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</a:rPr>
              <a:t>- Stored in PostgreSQL — no separate vector 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Next.js 15 App Router — TypeScript — Tailwind CSS — Shadcn/UI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5486400" cy="5394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5486400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4241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 Framework &amp; Tooling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89888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89888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1732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Next.js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58191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App Router, Server Components, Streaming SSR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810512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810512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837943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TypeScript 5.x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00253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Strict mode, path aliases, generated API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231136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231136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25856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Tailwind CSS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42316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JIT, custom design tokens, dark-mode 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651760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651760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679191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Shadcn/UI + Radix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84378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Accessible, headless component primitives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072384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072384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99815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TanStack Query v5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26440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Server-state caching, optimistic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493008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493008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520439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AG Grid 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68503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Virtualised tables with 100k+ rows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913632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913632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941064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Recharts / Victory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105656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Responsive charts and sparklines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334256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334256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361688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React Hook Form + Zod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4526280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Schema-validated forms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754880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754880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78231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Zustand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4946904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Lightweight global client state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175504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175504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520293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Socket.IO / native 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5367528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Real-time pipeline and notification updates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596128"/>
            <a:ext cx="5303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596128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62356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next-auth / custom JWT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578815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Cookie-based session with refresh rotation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1024128"/>
            <a:ext cx="5833872" cy="53949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35040" y="1024128"/>
            <a:ext cx="5833872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6479" y="1042415"/>
            <a:ext cx="5650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Application Routes &amp; Pages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79" y="1389888"/>
            <a:ext cx="5650992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9631" y="1417320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Dashboard &amp; Analytics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79" y="1627632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6207" y="1664208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 (dashboard)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79" y="1865376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207" y="1901952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/analytics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79" y="2103120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36207" y="2139696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/forecasting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79" y="2340863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7" y="2377439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/reports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79" y="2651759"/>
            <a:ext cx="5650992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9631" y="2679191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CRM Pipeline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79" y="2889503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36207" y="2926079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/deals  /deals/[id]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79" y="3127247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6207" y="3163823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/contacts  /contacts/[id]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79" y="3364991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7" y="3401567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/activities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6479" y="3602735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36207" y="363931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/tasks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79" y="3913631"/>
            <a:ext cx="5650992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99631" y="3941063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79" y="4151375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36207" y="418795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/agents (console)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126479" y="4389119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36207" y="4425695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/agents/[id]/run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79" y="4626863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36207" y="4663439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/agents/history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79" y="4864607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36207" y="4901183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/mcp-tools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26479" y="5175503"/>
            <a:ext cx="5650992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99631" y="5202935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Documents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26479" y="5413247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36207" y="5449823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/documents  /documents/[id]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26479" y="5650991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36207" y="5687567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/documents/upload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26479" y="5888735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36207" y="592531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/search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6479" y="6199631"/>
            <a:ext cx="5650992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99631" y="6227063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Admin &amp; Settings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26479" y="6437375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6207" y="647395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/settings/profile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26479" y="6675119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36207" y="6711695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/settings/team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26479" y="6912863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236207" y="6949439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/settings/integrations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26479" y="7150607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36207" y="7187183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/admin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26479" y="7461503"/>
            <a:ext cx="5650992" cy="2377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99631" y="7488935"/>
            <a:ext cx="5468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26479" y="7699247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36207" y="7735823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/login  /logout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26479" y="7936991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36207" y="7973567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/register  /mfa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26479" y="8174735"/>
            <a:ext cx="5650992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36207" y="8211311"/>
            <a:ext cx="5376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/forgot-password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Orchestration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LangGraph + LangChain + Anthropic Claude — stateful multi-agent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35661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3566160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6070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2646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StateGraph for agent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19072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Conditional routing &amp; branching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1168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Checkpointer for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042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Streaming token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596896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Interrupt / human-in-the-loop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889503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Parallel node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182111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Retry &amp; error handling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024128"/>
            <a:ext cx="35661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7096" y="1024128"/>
            <a:ext cx="356616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06070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142646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BaseTool wrappers for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1719072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PromptTemplate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6824" y="201168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ConversationBufferMemory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23042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Document loaders (PDF/DOCX)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2596896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Text splitter &amp; chunking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2889503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Embedding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182111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Output parsers (Pydantic)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74152" y="1024128"/>
            <a:ext cx="356616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4152" y="1024128"/>
            <a:ext cx="356616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06070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Anthropic 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142646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claude-3-5-sonnet-20241022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1719072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Tool use (function calling)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011680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- 200K context 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304288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Streaming via Anthropic 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596896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System prompt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889503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Temperature &amp; sampling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182111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Structured output (JSON mode)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05072"/>
            <a:ext cx="1154887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023360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Typical Agent Execution 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4370832"/>
            <a:ext cx="130759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API Request
arrives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1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28216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28216" y="4370832"/>
            <a:ext cx="130759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99132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Orchestrator
initialised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5808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36392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36392" y="4370832"/>
            <a:ext cx="1307592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7308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9544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StateGraph
executes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43984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44568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44568" y="4370832"/>
            <a:ext cx="130759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15483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Agents called
sequentially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59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52744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52744" y="4370832"/>
            <a:ext cx="1307592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23659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25896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MCP tools
invoked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6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60920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60920" y="4370832"/>
            <a:ext cx="130759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31836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4072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LLM inference
(streaming)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68512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69096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69096" y="4370832"/>
            <a:ext cx="1307592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40012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42248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Results
aggregated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76688" y="4718304"/>
            <a:ext cx="100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&gt;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77272" y="4370832"/>
            <a:ext cx="1307592" cy="914400"/>
          </a:xfrm>
          <a:prstGeom prst="rect">
            <a:avLst/>
          </a:prstGeom>
          <a:solidFill>
            <a:srgbClr val="F1F5F9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77272" y="4370832"/>
            <a:ext cx="130759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48188" y="43891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50424" y="4700016"/>
            <a:ext cx="1161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</a:rPr>
              <a:t>Response
returned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0040" y="539496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4A3B8"/>
                </a:solidFill>
              </a:rPr>
              <a:t>Average agent run: 3-8 seconds  |  Streaming output available  |  All runs persisted to ai_agents.AgentRun model  |  Max context: 200K tokens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Infrastructure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Docker Compose orchestration — development to production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2468880" cy="31089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60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40817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44475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Reverse proxy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171907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75564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SSL termination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02996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06654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Static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234086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37744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Rate limiting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8376" y="102412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8376" y="1024128"/>
            <a:ext cx="246888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6" y="1060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web (Django)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99816" y="140817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2968" y="144475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Gunicorn WSGI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99816" y="171907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175564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8 workers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99816" y="202996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206654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Health checks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9816" y="234086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72968" y="237744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/api/* routes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102412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96712" y="1024128"/>
            <a:ext cx="2468880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8152" y="1060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celery_worker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88152" y="140817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1304" y="144475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Async tasks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88152" y="171907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61304" y="175564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4 concurrency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88152" y="202996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1304" y="206654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Retry logic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88152" y="234086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61304" y="237744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Task routing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85048" y="102412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85048" y="1024128"/>
            <a:ext cx="2468880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1060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celery_beat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76488" y="140817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9640" y="144475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Cron scheduler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6488" y="171907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9640" y="175564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Periodic tasks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76488" y="202996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9640" y="206654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Report gen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76488" y="234086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9640" y="237744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ML retraining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073384" y="102412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073384" y="1024128"/>
            <a:ext cx="2468880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64824" y="1060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channels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164824" y="140817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37976" y="144475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ASGI server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164824" y="171907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37976" y="175564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WebSocket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164824" y="202996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37976" y="206654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Daphne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64824" y="234086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37976" y="237744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Real-time events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40156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0040" y="3401568"/>
            <a:ext cx="2468880" cy="31089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79" y="34381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postgres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79" y="378561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" y="382219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PostgreSQL 16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79" y="409651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632" y="413308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pgvector ext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79" y="440740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" y="444398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Persistent vol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79" y="471830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4632" y="475488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Daily backups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08376" y="340156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008376" y="3401568"/>
            <a:ext cx="2468880" cy="3108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99816" y="34381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99816" y="378561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72968" y="382219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Cache store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99816" y="409651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72968" y="413308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Celery broker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99816" y="440740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72968" y="444398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WS channel layer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99816" y="471830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72968" y="475488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TTL config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340156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696712" y="3401568"/>
            <a:ext cx="2468880" cy="3108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88152" y="34381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88152" y="378561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61304" y="382219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Object store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88152" y="409651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61304" y="413308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S3 API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88152" y="440740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61304" y="444398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Bucket policies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788152" y="471830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61304" y="475488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Encryption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85048" y="3401568"/>
            <a:ext cx="2468880" cy="2176272"/>
          </a:xfrm>
          <a:prstGeom prst="rect">
            <a:avLst/>
          </a:prstGeom>
          <a:solidFill>
            <a:srgbClr val="F1F5F9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5048" y="3401568"/>
            <a:ext cx="2468880" cy="3108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76488" y="34381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76488" y="3785616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9640" y="3822192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Next.js dev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76488" y="4096512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9640" y="4133088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HMR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476488" y="4407408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4443984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Port 3000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76488" y="4718304"/>
            <a:ext cx="22860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549640" y="4754880"/>
            <a:ext cx="21214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API proxying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5779008"/>
            <a:ext cx="11548872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11480" y="579729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CI/CD Pipeline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331720" y="5833872"/>
            <a:ext cx="173736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04872" y="58430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Push to GitHub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78808" y="5833872"/>
            <a:ext cx="265176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51960" y="584301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GitHub Actions triggered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40296" y="5833872"/>
            <a:ext cx="201168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013448" y="58430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Lint + Type-check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61704" y="5833872"/>
            <a:ext cx="192024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134856" y="584301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pytest (backend)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091672" y="5833872"/>
            <a:ext cx="182880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164824" y="584301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Jest (frontend)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RBAC Security Model — 9 Hierarchical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Role-Based Access Control with JWT + HttpOnly cookie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42415"/>
            <a:ext cx="1154887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42415"/>
            <a:ext cx="502920" cy="530352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70431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152143"/>
            <a:ext cx="1522476" cy="29260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170431"/>
            <a:ext cx="1431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Super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1468" y="1170431"/>
            <a:ext cx="88559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Full system access, all orgs, infra config, user impersonation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3"/>
            <a:ext cx="11548872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09343"/>
            <a:ext cx="502920" cy="53035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7373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1719072"/>
            <a:ext cx="891540" cy="292608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1737360"/>
            <a:ext cx="8001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0532" y="1737360"/>
            <a:ext cx="94869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Organisation-wide admin, billing, integrations, team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76272"/>
            <a:ext cx="1154887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176272"/>
            <a:ext cx="502920" cy="5303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3042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286000"/>
            <a:ext cx="1101852" cy="2926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2304288"/>
            <a:ext cx="10104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0844" y="2304288"/>
            <a:ext cx="92765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Team oversight, deal approval, reporting, quota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43200"/>
            <a:ext cx="11548872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743200"/>
            <a:ext cx="502920" cy="5303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287121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852928"/>
            <a:ext cx="2048256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2871216"/>
            <a:ext cx="19568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Senior Sales 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248" y="2871216"/>
            <a:ext cx="8330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Full deal lifecycle, high-value actions, mentor visibility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10128"/>
            <a:ext cx="1154887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310128"/>
            <a:ext cx="502920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43814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419856"/>
            <a:ext cx="1312164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3438144"/>
            <a:ext cx="12207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Sales Rep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1156" y="3438144"/>
            <a:ext cx="9066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Own deals and contacts, task management, document upload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77056"/>
            <a:ext cx="11548872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877056"/>
            <a:ext cx="502920" cy="5303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0050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986784"/>
            <a:ext cx="68122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005072"/>
            <a:ext cx="5897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SDR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0220" y="4005072"/>
            <a:ext cx="96972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Lead qualification, initial contact, activity logging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443984"/>
            <a:ext cx="1154887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4443984"/>
            <a:ext cx="50292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457200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4553712"/>
            <a:ext cx="1101852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" y="4572000"/>
            <a:ext cx="10104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Analyst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80844" y="4572000"/>
            <a:ext cx="92765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Read-only analytics, dashboards, report export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010912"/>
            <a:ext cx="11548872" cy="5303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5010912"/>
            <a:ext cx="5029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4048" y="51389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5120640"/>
            <a:ext cx="225856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" y="5138928"/>
            <a:ext cx="2167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Compliance Officer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5138928"/>
            <a:ext cx="8119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Compliance tools, audit logs, risk reports, flag management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577840"/>
            <a:ext cx="11548872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5577840"/>
            <a:ext cx="502920" cy="5303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570585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687568"/>
            <a:ext cx="996696" cy="2926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" y="5705856"/>
            <a:ext cx="9052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Viewer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5705856"/>
            <a:ext cx="9381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Read-only access to shared dashboards and reports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6254496"/>
            <a:ext cx="11548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6309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Security Controls: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14600" y="6327648"/>
            <a:ext cx="3054096" cy="23774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87752" y="634593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</a:rPr>
              <a:t>JWT (15 min access + 7d refresh)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78424" y="6327648"/>
            <a:ext cx="2272284" cy="23774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51576" y="6345936"/>
            <a:ext cx="21442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</a:rPr>
              <a:t>HttpOnly Secure cookies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60436" y="6327648"/>
            <a:ext cx="1577340" cy="23774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3588" y="6345936"/>
            <a:ext cx="14493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</a:rPr>
              <a:t>CSRF protection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47504" y="6327648"/>
            <a:ext cx="2706624" cy="237744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0656" y="6345936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66F1"/>
                </a:solidFill>
              </a:rPr>
              <a:t>Field-level encryption (PII)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Request lifecycle — from browser to AI agent and 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141732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276148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Browser /
Mobile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560320"/>
            <a:ext cx="141732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276148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Nginx
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560320"/>
            <a:ext cx="141732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276148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Django
REST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560320"/>
            <a:ext cx="141732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276148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Business
Logic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560320"/>
            <a:ext cx="141732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76148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
Orchestration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560320"/>
            <a:ext cx="141732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2761488"/>
            <a:ext cx="1271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MCP Tool
Servers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0" y="2560320"/>
            <a:ext cx="1234440" cy="914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71632" y="2761488"/>
            <a:ext cx="10881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External
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999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999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999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&gt;&gt;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99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&gt;&gt;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999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&gt;&gt;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29992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&gt;&gt;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2052" y="3474720"/>
            <a:ext cx="36576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83180" y="378561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840480"/>
            <a:ext cx="1417320" cy="822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2" y="4023360"/>
            <a:ext cx="1271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PostgreSQL
+ pgvector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9412" y="3474720"/>
            <a:ext cx="36576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0540" y="378561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840480"/>
            <a:ext cx="14173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22191" y="4023360"/>
            <a:ext cx="1271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Redis
Cache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6772" y="3474720"/>
            <a:ext cx="36576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57900" y="378561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840480"/>
            <a:ext cx="14173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9552" y="4023360"/>
            <a:ext cx="1271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Celery
Task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14132" y="3474720"/>
            <a:ext cx="36576" cy="38404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5260" y="3785615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840480"/>
            <a:ext cx="1417320" cy="822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4023360"/>
            <a:ext cx="12710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MinIO
Object Store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864608"/>
            <a:ext cx="11548872" cy="310896"/>
          </a:xfrm>
          <a:prstGeom prst="rect">
            <a:avLst/>
          </a:prstGeom>
          <a:solidFill>
            <a:srgbClr val="F1F5F9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89204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WebSocket Return Path: Django Channels &gt;&gt; Redis PubSub &gt;&gt; Connected clients (real-time updates)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32180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HTTP Request: User action hits Nginx, forwarded to Django with JWT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59612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API Processing: ViewSet resolves request, checks permissions, calls service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8704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 Invocation: Agent triggered via Celery task or synchronous call; LangGraph executes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14476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Tool Execution: MCP servers called by agents; results stored in PostgreSQL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1908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Response: Serialized JSON returned; WebSocket pushes updates to browser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Three-environment strategy: Development — Staging —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347472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78992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536192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91056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docker-compose.dev.yml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1920240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SQLite or local Postgres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" y="2304288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5915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Hot-reload (Django + Next.js)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2688336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Mock MCP servers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3072384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27248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Debug toolbar enabled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" y="3456432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11296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Mailhog for email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" y="3840480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9534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MinIO local instance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1" y="1024128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42231" y="1024128"/>
            <a:ext cx="34747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1078992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536192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1591056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docker-compose.staging.yml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920240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5112" y="197510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PostgreSQL 16 container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2304288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235915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Real MCP servers + Anthropic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2688336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274320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Automated integration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072384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3127248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Performance profiling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3456432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3511296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Error tracking (Sentry)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3840480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389534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Load testing (Locust)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64423" y="1024128"/>
            <a:ext cx="34747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64423" y="1024128"/>
            <a:ext cx="347472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4151" y="1078992"/>
            <a:ext cx="32552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74151" y="1536192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7303" y="1591056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docker-compose.prod.yml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1" y="1920240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3" y="197510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Managed PostgreSQL (RDS/Cloud)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74151" y="2304288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47303" y="235915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Redis cluster (ElastiCache)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4151" y="2688336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47303" y="2743200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MinIO or S3 (production)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74151" y="3072384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47303" y="3127248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Nginx + SSL (Let's Encrypt)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74151" y="3456432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47303" y="3511296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Horizontal Celery scaling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74151" y="3840480"/>
            <a:ext cx="3255263" cy="3474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47303" y="3895344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- Prometheus + Grafana monitoring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480560"/>
            <a:ext cx="11548872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44988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Scalability &amp; Observability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864608"/>
            <a:ext cx="11548872" cy="42062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9194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Horizontal Scaling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97480" y="4919472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Stateless Django workers scale behind Nginx load balancer; Celery workers scale independently per queue.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303520"/>
            <a:ext cx="115488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53583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Monitoring Stack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97480" y="5358384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Prometheus metrics, Grafana dashboards, Loki log aggregation, Alertmanager for PagerDuty/Slack alerts.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742432"/>
            <a:ext cx="11548872" cy="42062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57972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Backup Strategy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7480" y="5797296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PostgreSQL daily pg_dump + WAL archiving; MinIO cross-bucket replication; Redis AOF persistence.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6181344"/>
            <a:ext cx="1154887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623620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Disaster Recovery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97480" y="6236208"/>
            <a:ext cx="9052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RPO &lt; 1 hour, RTO &lt; 4 hours; blue-green deployment support; database failover via replication.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Planned enhancements across four horizons — Q1 2026 through Q4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42415"/>
            <a:ext cx="2651760" cy="4846320"/>
          </a:xfrm>
          <a:prstGeom prst="rect">
            <a:avLst/>
          </a:prstGeom>
          <a:solidFill>
            <a:srgbClr val="F1F5F9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42415"/>
            <a:ext cx="2651760" cy="4754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972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 2026
(In Progress)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627631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79" y="1627631"/>
            <a:ext cx="54864" cy="67665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1700784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Complete remaining 4 AI agents (Churn Predictor, Upsell Identifier, etc.)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2377439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79" y="2377439"/>
            <a:ext cx="54864" cy="67665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2450591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Finish MCP server test coverage to 90%+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127247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79" y="3127247"/>
            <a:ext cx="54864" cy="67665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200399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AG Grid integration and advanced pipeline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3877055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79" y="3877055"/>
            <a:ext cx="54864" cy="67665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3950207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Email / Calendar integration (Gmail + Outlook OAuth)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4626864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79" y="4626864"/>
            <a:ext cx="54864" cy="67665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" y="4700016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Automated deal scoring pipeline end-to-end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7832" y="1042415"/>
            <a:ext cx="2651760" cy="4846320"/>
          </a:xfrm>
          <a:prstGeom prst="rect">
            <a:avLst/>
          </a:prstGeom>
          <a:solidFill>
            <a:srgbClr val="F1F5F9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27832" y="1042415"/>
            <a:ext cx="2651760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10972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9272" y="1627631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272" y="1627631"/>
            <a:ext cx="54864" cy="676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1700784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Kubernetes migration (Helm charts, HPA autoscaling)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9272" y="2377439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19272" y="2377439"/>
            <a:ext cx="54864" cy="676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2450591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Multi-tenancy: organisation isolation at DB + API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9272" y="3127247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3127247"/>
            <a:ext cx="54864" cy="676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200399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Mobile app: React Native with offline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9272" y="3877055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19272" y="3877055"/>
            <a:ext cx="54864" cy="676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950207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Bi-directional Salesforce / HubSpot connector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9272" y="4626864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9272" y="4626864"/>
            <a:ext cx="54864" cy="67665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4700016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Agent self-improvement: fine-tune on deal outcomes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5623" y="1042415"/>
            <a:ext cx="2651760" cy="4846320"/>
          </a:xfrm>
          <a:prstGeom prst="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35623" y="1042415"/>
            <a:ext cx="265176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27063" y="10972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7063" y="1627631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27063" y="1627631"/>
            <a:ext cx="54864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1" y="1700784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Real-time voice assistant (WebRTC + Whisper + TTS)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7063" y="2377439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27063" y="2377439"/>
            <a:ext cx="54864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36791" y="2450591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Predictive lead scoring ML model (XGBoost)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27063" y="3127247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27063" y="3127247"/>
            <a:ext cx="54864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6791" y="3200399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Advanced RAG: graph-based knowledge retrieval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27063" y="3877055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27063" y="3877055"/>
            <a:ext cx="54864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1" y="3950207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Enterprise SSO: SAML 2.0, SCIM provisioning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27063" y="4626864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27063" y="4626864"/>
            <a:ext cx="54864" cy="6766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36791" y="4700016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Automated compliance report generation (SOC 2, GDPR)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43415" y="1042415"/>
            <a:ext cx="2651760" cy="4846320"/>
          </a:xfrm>
          <a:prstGeom prst="rect">
            <a:avLst/>
          </a:prstGeom>
          <a:solidFill>
            <a:srgbClr val="F1F5F9"/>
          </a:solidFill>
          <a:ln w="19050">
            <a:solidFill>
              <a:srgbClr val="DC2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43415" y="1042415"/>
            <a:ext cx="2651760" cy="475488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34855" y="10972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34855" y="1627631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34855" y="1627631"/>
            <a:ext cx="54864" cy="676656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44584" y="1700784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AI Deal Room: collaborative agent-assisted negotiation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34855" y="2377439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34855" y="2377439"/>
            <a:ext cx="54864" cy="676656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44584" y="2450591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Marketplace: 3rd-party MCP tool server plugins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34855" y="3127247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34855" y="3127247"/>
            <a:ext cx="54864" cy="676656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44584" y="3200399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International: multi-currency, i18n, regional compliance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34855" y="3877055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34855" y="3877055"/>
            <a:ext cx="54864" cy="676656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44584" y="3950207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Advanced analytics: cohort analysis, attribution modelling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34855" y="4626864"/>
            <a:ext cx="2468879" cy="67665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34855" y="4626864"/>
            <a:ext cx="54864" cy="676656"/>
          </a:xfrm>
          <a:prstGeom prst="rect">
            <a:avLst/>
          </a:prstGeom>
          <a:solidFill>
            <a:srgbClr val="DC2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44584" y="4700016"/>
            <a:ext cx="23042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Self-hosted LLM option (open-source model support)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998464"/>
            <a:ext cx="11548872" cy="6949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603504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Deal Manager  |  Built with Django + LangGraph + Next.js + Anthropic Claude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6309360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Confidential Technical Documentation  |  Architecture v1.0  |  February 2026  |  For internal distribution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